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3386E3-D41C-4841-9257-F02771DF706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211719-316E-4DAC-8C4D-41D4964AC2E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B205A1-F500-4496-989C-06C3AFE1D91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6966CE-7168-42BC-BAAC-BD9352B9A5B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62E06B-58D8-4FA3-A6CC-EFC3812C94C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39EE45-FAEA-4722-B216-0CD6BFDC730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E49446-E341-47E6-A1FA-9FE563DB9D5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9AAB90-B4BA-497A-A6F7-5C36961FD26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F2543B-D7A1-4323-A4B5-7C5C53C9D85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58947B-7C76-452C-9999-B307BE8989A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26238D-9CE8-4021-B28F-CEF660246D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F42F90-F737-4793-A5F6-0AAC7A376B4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42F56C-15F6-466A-A81D-E805EFC0F12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BF3BC8-BBD9-41F8-B1B5-99657F6B50E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015920" y="1488600"/>
            <a:ext cx="71110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648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DVN INTELLIGENCE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015920" y="2502000"/>
            <a:ext cx="7111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149"/>
              </a:lnSpc>
              <a:spcAft>
                <a:spcPts val="2999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Observability for Cross-Chain Verification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15920" y="3283200"/>
            <a:ext cx="71110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024"/>
              </a:lnSpc>
              <a:spcAft>
                <a:spcPts val="901"/>
              </a:spcAft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95a5a6"/>
                </a:solidFill>
                <a:effectLst/>
                <a:uFillTx/>
                <a:latin typeface="Arial"/>
                <a:ea typeface="Arial"/>
              </a:rPr>
              <a:t>Bloomberg Terminal for the $XXB DVN Security Layer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380880" y="895320"/>
            <a:ext cx="4283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The Problem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380880" y="2739240"/>
            <a:ext cx="8380800" cy="1698120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399960" y="2739240"/>
            <a:ext cx="360" cy="169920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47640" y="2967840"/>
            <a:ext cx="804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8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Your $10M cross-chain transfer failed.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47640" y="3485880"/>
            <a:ext cx="80434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The DVN you chose had a 40% failure rate.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647640" y="3905280"/>
            <a:ext cx="80434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You had no way to know.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380880" y="4772160"/>
            <a:ext cx="854856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5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5a5a6"/>
                </a:solidFill>
                <a:effectLst/>
                <a:uFillTx/>
                <a:latin typeface="Arial"/>
                <a:ea typeface="Arial"/>
              </a:rPr>
              <a:t>DVN = Decentralized Verifier Network - the security layer that validates cross-chain transactions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380880" y="716400"/>
            <a:ext cx="4283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Market Context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380880" y="2560320"/>
            <a:ext cx="85485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180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LayerZero routes </a:t>
            </a:r>
            <a:r>
              <a:rPr b="1" lang="en-US" sz="15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billions of dollars monthly</a:t>
            </a: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across 100+ chains.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380880" y="3093840"/>
            <a:ext cx="854856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spcAft>
                <a:spcPts val="180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As institutions adopt on-chain collateral and cross-chain settlement, the </a:t>
            </a:r>
            <a:r>
              <a:rPr b="1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DVN verifier layer becomes mission-critical infrastructure</a:t>
            </a: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380880" y="3931920"/>
            <a:ext cx="8380800" cy="684720"/>
          </a:xfrm>
          <a:prstGeom prst="roundRect">
            <a:avLst>
              <a:gd name="adj" fmla="val 5556"/>
            </a:avLst>
          </a:prstGeom>
          <a:solidFill>
            <a:srgbClr val="e8f6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409320" y="3931560"/>
            <a:ext cx="360" cy="685800"/>
          </a:xfrm>
          <a:prstGeom prst="line">
            <a:avLst/>
          </a:prstGeom>
          <a:ln w="5715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628560" y="4122360"/>
            <a:ext cx="81018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Yet it remains a black box.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380880" y="612000"/>
            <a:ext cx="4283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Why Now?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380880" y="2456280"/>
            <a:ext cx="428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6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95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2025-2026: Critical Thresholds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380880" y="2845440"/>
            <a:ext cx="8380800" cy="40356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399960" y="2845440"/>
            <a:ext cx="360" cy="40464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14440" y="2940840"/>
            <a:ext cx="8315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Circle's CCTP launched</a:t>
            </a:r>
            <a:r>
              <a:rPr b="0" lang="en-US" sz="113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— Institutional USDC transfers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380880" y="3326400"/>
            <a:ext cx="8380800" cy="40356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399960" y="3326400"/>
            <a:ext cx="360" cy="40464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514440" y="3421800"/>
            <a:ext cx="8315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BlackRock tokenized treasury</a:t>
            </a:r>
            <a:r>
              <a:rPr b="0" lang="en-US" sz="113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— Real capital on-chain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380880" y="3807360"/>
            <a:ext cx="8380800" cy="40356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399960" y="3807360"/>
            <a:ext cx="360" cy="40464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514440" y="3902760"/>
            <a:ext cx="8315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Crypto-friendly regulation</a:t>
            </a:r>
            <a:r>
              <a:rPr b="0" lang="en-US" sz="113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— Institutional adoption accelerates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380880" y="4326480"/>
            <a:ext cx="8380800" cy="432360"/>
          </a:xfrm>
          <a:prstGeom prst="roundRect">
            <a:avLst>
              <a:gd name="adj" fmla="val 8791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476280" y="4421880"/>
            <a:ext cx="835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13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Institutions need DVN performance visibility.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380880" y="562320"/>
            <a:ext cx="4283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The Blind Spot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380880" y="2349360"/>
            <a:ext cx="8548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1049"/>
              </a:spcAft>
              <a:tabLst>
                <a:tab algn="l" pos="0"/>
              </a:tabLst>
            </a:pPr>
            <a:r>
              <a:rPr b="0" lang="en-US" sz="13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Today, teams make DVN decisions based on: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380880" y="2756880"/>
            <a:ext cx="838080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1800"/>
              </a:lnSpc>
              <a:spcAft>
                <a:spcPts val="601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Documentation and whitepapers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800"/>
              </a:lnSpc>
              <a:spcAft>
                <a:spcPts val="601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Anecdotes from other builders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800"/>
              </a:lnSpc>
              <a:spcAft>
                <a:spcPts val="601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Brand reputation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800"/>
              </a:lnSpc>
              <a:spcAft>
                <a:spcPts val="601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Guesswork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380880" y="4318920"/>
            <a:ext cx="8380800" cy="489600"/>
          </a:xfrm>
          <a:prstGeom prst="roundRect">
            <a:avLst>
              <a:gd name="adj" fmla="val 7767"/>
            </a:avLst>
          </a:prstGeom>
          <a:solidFill>
            <a:srgbClr val="fff3c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409320" y="4318920"/>
            <a:ext cx="360" cy="490320"/>
          </a:xfrm>
          <a:prstGeom prst="line">
            <a:avLst/>
          </a:prstGeom>
          <a:ln w="5715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561960" y="4442760"/>
            <a:ext cx="8237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13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No standardized way to measure DVN performance.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380880" y="810360"/>
            <a:ext cx="4283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The Solution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380880" y="2654280"/>
            <a:ext cx="85485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639"/>
              </a:lnSpc>
              <a:spcAft>
                <a:spcPts val="2100"/>
              </a:spcAft>
              <a:tabLst>
                <a:tab algn="l" pos="0"/>
              </a:tabLst>
            </a:pPr>
            <a:r>
              <a:rPr b="0" lang="en-US" sz="16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DVN Intelligence exposes the verification layer with real on-chain data: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380880" y="3256200"/>
            <a:ext cx="2665800" cy="1266480"/>
          </a:xfrm>
          <a:prstGeom prst="roundRect">
            <a:avLst>
              <a:gd name="adj" fmla="val 300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Shape 3"/>
          <p:cNvSpPr/>
          <p:nvPr/>
        </p:nvSpPr>
        <p:spPr>
          <a:xfrm>
            <a:off x="399960" y="3255840"/>
            <a:ext cx="360" cy="126792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571680" y="3408480"/>
            <a:ext cx="236952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35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Who verifies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571680" y="3728520"/>
            <a:ext cx="236952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Track which DVNs handle transactions across routes and OAPPs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3238560" y="3256200"/>
            <a:ext cx="2665800" cy="1266480"/>
          </a:xfrm>
          <a:prstGeom prst="roundRect">
            <a:avLst>
              <a:gd name="adj" fmla="val 300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3257280" y="3255840"/>
            <a:ext cx="360" cy="126792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3429000" y="3408480"/>
            <a:ext cx="236952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35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How much they secure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3429000" y="3728520"/>
            <a:ext cx="236952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Volume-weighted metrics show institutional trust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6095880" y="3256200"/>
            <a:ext cx="2665800" cy="1266480"/>
          </a:xfrm>
          <a:prstGeom prst="roundRect">
            <a:avLst>
              <a:gd name="adj" fmla="val 300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6114960" y="3255840"/>
            <a:ext cx="360" cy="126792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6286680" y="3408480"/>
            <a:ext cx="236952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35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How reliable they are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6286680" y="3728520"/>
            <a:ext cx="236952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Delivery rates, latency, and failure patterns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380880" y="4772160"/>
            <a:ext cx="854856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5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5a5a6"/>
                </a:solidFill>
                <a:effectLst/>
                <a:uFillTx/>
                <a:latin typeface="Arial"/>
                <a:ea typeface="Arial"/>
              </a:rPr>
              <a:t>All metrics derived from verifiable on-chain transaction data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380880" y="537840"/>
            <a:ext cx="4283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What Works Today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380880" y="2267640"/>
            <a:ext cx="209736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34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65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v1 Features (Live)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380880" y="2614680"/>
            <a:ext cx="4094640" cy="16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1576"/>
              </a:lnSpc>
              <a:spcAft>
                <a:spcPts val="601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Search OAPPs, DVNs, wallets, tx hashes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76"/>
              </a:lnSpc>
              <a:spcAft>
                <a:spcPts val="601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Reliability scoring (volume-weighted)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76"/>
              </a:lnSpc>
              <a:spcAft>
                <a:spcPts val="601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Transaction-level inspection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76"/>
              </a:lnSpc>
              <a:spcAft>
                <a:spcPts val="601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Fee breakdowns (DVN, executor, chain)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76"/>
              </a:lnSpc>
              <a:spcAft>
                <a:spcPts val="601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Direct LayerZeroScan integration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667400" y="2267640"/>
            <a:ext cx="4094640" cy="1955880"/>
          </a:xfrm>
          <a:prstGeom prst="roundRect">
            <a:avLst>
              <a:gd name="adj" fmla="val 1947"/>
            </a:avLst>
          </a:prstGeom>
          <a:solidFill>
            <a:srgbClr val="e8f6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 4"/>
          <p:cNvSpPr/>
          <p:nvPr/>
        </p:nvSpPr>
        <p:spPr>
          <a:xfrm>
            <a:off x="4819680" y="2419920"/>
            <a:ext cx="38656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Dataset (Base → Ethereum)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4819680" y="2698200"/>
            <a:ext cx="38656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spcAft>
                <a:spcPts val="224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1,000</a:t>
            </a:r>
            <a:r>
              <a:rPr b="0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transactions analyzed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4819680" y="2983680"/>
            <a:ext cx="38656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spcAft>
                <a:spcPts val="224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49</a:t>
            </a:r>
            <a:r>
              <a:rPr b="0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unique OAPPs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4819680" y="3269520"/>
            <a:ext cx="38656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spcAft>
                <a:spcPts val="224"/>
              </a:spcAft>
              <a:tabLst>
                <a:tab algn="l" pos="0"/>
              </a:tabLst>
            </a:pPr>
            <a:r>
              <a:rPr b="1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16</a:t>
            </a:r>
            <a:r>
              <a:rPr b="0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active DVNs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4819680" y="3555360"/>
            <a:ext cx="38656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$67M</a:t>
            </a:r>
            <a:r>
              <a:rPr b="0" lang="en-US" sz="10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in verified volume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380880" y="4338720"/>
            <a:ext cx="8380800" cy="456120"/>
          </a:xfrm>
          <a:prstGeom prst="roundRect">
            <a:avLst>
              <a:gd name="adj" fmla="val 8333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413640" y="4453200"/>
            <a:ext cx="83152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Live Demo: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dvn-intelligence.vercel.app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380880" y="360360"/>
            <a:ext cx="4283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Traction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380880" y="2013840"/>
            <a:ext cx="8380800" cy="677160"/>
          </a:xfrm>
          <a:prstGeom prst="roundRect">
            <a:avLst>
              <a:gd name="adj" fmla="val 561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399960" y="2013480"/>
            <a:ext cx="360" cy="67824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542880" y="2137680"/>
            <a:ext cx="8256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374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 v1 Shipped &amp; Live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542880" y="2368080"/>
            <a:ext cx="8256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Public demo at dvn-intelligence.vercel.app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380880" y="2787120"/>
            <a:ext cx="8380800" cy="677160"/>
          </a:xfrm>
          <a:prstGeom prst="roundRect">
            <a:avLst>
              <a:gd name="adj" fmla="val 561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399960" y="2786760"/>
            <a:ext cx="360" cy="67824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542880" y="2910960"/>
            <a:ext cx="8256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374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 $67M Analyzed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542880" y="3141360"/>
            <a:ext cx="8256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Real transaction data across 49 OAPPs and 16 DVNs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380880" y="3560400"/>
            <a:ext cx="8380800" cy="677160"/>
          </a:xfrm>
          <a:prstGeom prst="roundRect">
            <a:avLst>
              <a:gd name="adj" fmla="val 561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399960" y="3560400"/>
            <a:ext cx="360" cy="67788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542880" y="3684240"/>
            <a:ext cx="8256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374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 Public Acknowledgment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542880" y="3914640"/>
            <a:ext cx="8256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DVN research cited by LayerZero co-founder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380880" y="4333680"/>
            <a:ext cx="8380800" cy="677160"/>
          </a:xfrm>
          <a:prstGeom prst="roundRect">
            <a:avLst>
              <a:gd name="adj" fmla="val 561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399960" y="4333680"/>
            <a:ext cx="360" cy="67788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542880" y="4457520"/>
            <a:ext cx="8256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374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 Active Builder Feedback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542880" y="4687920"/>
            <a:ext cx="8256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Conversations with protocol teams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380880" y="516240"/>
            <a:ext cx="52354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Competitive Landscape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380880" y="2217240"/>
            <a:ext cx="8380800" cy="665640"/>
          </a:xfrm>
          <a:prstGeom prst="roundRect">
            <a:avLst>
              <a:gd name="adj" fmla="val 5714"/>
            </a:avLst>
          </a:prstGeom>
          <a:solidFill>
            <a:srgbClr val="e8f6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409320" y="2217240"/>
            <a:ext cx="360" cy="666720"/>
          </a:xfrm>
          <a:prstGeom prst="line">
            <a:avLst/>
          </a:prstGeom>
          <a:ln w="5715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628560" y="2408040"/>
            <a:ext cx="8101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No existing tool surfaces DVN-level performance metrics.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380880" y="3112920"/>
            <a:ext cx="194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LayerZeroScan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2476440" y="3112920"/>
            <a:ext cx="64112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Transaction explorer only — no DVN analytics or reliability scoring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380880" y="3455640"/>
            <a:ext cx="194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Dune Analytics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2476440" y="3455640"/>
            <a:ext cx="64112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General blockchain analytics — no DVN-specific metrics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380880" y="3798720"/>
            <a:ext cx="194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Nansen / Chainalysis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2476440" y="3798720"/>
            <a:ext cx="64112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Wallet tracking &amp; compliance — not verification layer focused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380880" y="4255920"/>
            <a:ext cx="8380800" cy="560880"/>
          </a:xfrm>
          <a:prstGeom prst="roundRect">
            <a:avLst>
              <a:gd name="adj" fmla="val 678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533520" y="4408200"/>
            <a:ext cx="823752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24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DVN Intelligence is the first observability layer for cross-chain verification.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380880" y="473400"/>
            <a:ext cx="42832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96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Roadmap: Q1 2026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380880" y="2033640"/>
            <a:ext cx="8380800" cy="643680"/>
          </a:xfrm>
          <a:prstGeom prst="roundRect">
            <a:avLst>
              <a:gd name="adj" fmla="val 591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Shape 2"/>
          <p:cNvSpPr/>
          <p:nvPr/>
        </p:nvSpPr>
        <p:spPr>
          <a:xfrm>
            <a:off x="399960" y="2033640"/>
            <a:ext cx="360" cy="64476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533520" y="2148120"/>
            <a:ext cx="82764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374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Multi-Route Coverage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533520" y="2378520"/>
            <a:ext cx="82764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Expand beyond Base→Ethereum to top 10 routes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380880" y="2773800"/>
            <a:ext cx="8380800" cy="643680"/>
          </a:xfrm>
          <a:prstGeom prst="roundRect">
            <a:avLst>
              <a:gd name="adj" fmla="val 591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Shape 6"/>
          <p:cNvSpPr/>
          <p:nvPr/>
        </p:nvSpPr>
        <p:spPr>
          <a:xfrm>
            <a:off x="399960" y="2773440"/>
            <a:ext cx="360" cy="64476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533520" y="2887920"/>
            <a:ext cx="82764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374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Enhanced Fee Transparency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533520" y="3118320"/>
            <a:ext cx="82764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Detailed DVN, executor, and chain fee breakdowns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380880" y="3513600"/>
            <a:ext cx="8380800" cy="643680"/>
          </a:xfrm>
          <a:prstGeom prst="roundRect">
            <a:avLst>
              <a:gd name="adj" fmla="val 591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399960" y="3513600"/>
            <a:ext cx="360" cy="64476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533520" y="3628080"/>
            <a:ext cx="82764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374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Real-Time Ingestion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533520" y="3858480"/>
            <a:ext cx="82764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Live tracking with automatic performance updates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380880" y="4253760"/>
            <a:ext cx="8380800" cy="643680"/>
          </a:xfrm>
          <a:prstGeom prst="roundRect">
            <a:avLst>
              <a:gd name="adj" fmla="val 591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Shape 14"/>
          <p:cNvSpPr/>
          <p:nvPr/>
        </p:nvSpPr>
        <p:spPr>
          <a:xfrm>
            <a:off x="399960" y="4253400"/>
            <a:ext cx="360" cy="64476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533520" y="4367880"/>
            <a:ext cx="82764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374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Alerts &amp; Exports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533520" y="4598280"/>
            <a:ext cx="827640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Custom notifications and compliance exports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380880" y="553320"/>
            <a:ext cx="42832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96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Business Model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380880" y="2113560"/>
            <a:ext cx="8380800" cy="60372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399960" y="2113200"/>
            <a:ext cx="360" cy="60480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23800" y="2218320"/>
            <a:ext cx="82958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3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Institutions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523800" y="2427840"/>
            <a:ext cx="8295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Compliance-ready DVN reports ($5k-$50k/year)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380880" y="2813760"/>
            <a:ext cx="8380800" cy="60372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399960" y="2813400"/>
            <a:ext cx="360" cy="60480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523800" y="2918520"/>
            <a:ext cx="82958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3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Protocols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523800" y="3128040"/>
            <a:ext cx="8295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White-label DVN monitoring (revenue share)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380880" y="3513600"/>
            <a:ext cx="8380800" cy="60372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Shape 10"/>
          <p:cNvSpPr/>
          <p:nvPr/>
        </p:nvSpPr>
        <p:spPr>
          <a:xfrm>
            <a:off x="399960" y="3513600"/>
            <a:ext cx="360" cy="60480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523800" y="3618360"/>
            <a:ext cx="82958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3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API Access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523800" y="3827880"/>
            <a:ext cx="8295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Real-time DVN data feeds (usage-based)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380880" y="4213800"/>
            <a:ext cx="8380800" cy="60372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399960" y="4213440"/>
            <a:ext cx="360" cy="60516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523800" y="4318560"/>
            <a:ext cx="82958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3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Infrastructure Partners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6"/>
          <p:cNvSpPr/>
          <p:nvPr/>
        </p:nvSpPr>
        <p:spPr>
          <a:xfrm>
            <a:off x="523800" y="4528080"/>
            <a:ext cx="8295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Strategic partnerships (co-marketing, data integration)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380880" y="411840"/>
            <a:ext cx="42832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96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3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The Opportunity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380880" y="1829160"/>
            <a:ext cx="8380800" cy="560880"/>
          </a:xfrm>
          <a:prstGeom prst="roundRect">
            <a:avLst>
              <a:gd name="adj" fmla="val 6780"/>
            </a:avLst>
          </a:prstGeom>
          <a:solidFill>
            <a:srgbClr val="fff3c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409320" y="1829160"/>
            <a:ext cx="360" cy="561960"/>
          </a:xfrm>
          <a:prstGeom prst="line">
            <a:avLst/>
          </a:prstGeom>
          <a:ln w="5715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590400" y="1981800"/>
            <a:ext cx="81792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24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We're not raising capital yet.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380880" y="2562840"/>
            <a:ext cx="854856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41"/>
              </a:lnSpc>
              <a:spcAft>
                <a:spcPts val="1049"/>
              </a:spcAft>
              <a:tabLst>
                <a:tab algn="l" pos="0"/>
              </a:tabLst>
            </a:pPr>
            <a:r>
              <a:rPr b="0" lang="en-US" sz="128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We're looking for: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380880" y="2954880"/>
            <a:ext cx="8380800" cy="60372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399960" y="2954880"/>
            <a:ext cx="360" cy="60480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523800" y="3059640"/>
            <a:ext cx="82958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3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Design Partners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523800" y="3269160"/>
            <a:ext cx="8295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Institutions moving &gt;$100M/month cross-chain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380880" y="3655080"/>
            <a:ext cx="8380800" cy="60372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399960" y="3654720"/>
            <a:ext cx="360" cy="60516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523800" y="3759840"/>
            <a:ext cx="82958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3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Technical Advisors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523800" y="3969360"/>
            <a:ext cx="8295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LayerZero team, DVN operators, infrastructure experts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380880" y="4355280"/>
            <a:ext cx="8380800" cy="60372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399960" y="4354920"/>
            <a:ext cx="360" cy="604800"/>
          </a:xfrm>
          <a:prstGeom prst="line">
            <a:avLst/>
          </a:prstGeom>
          <a:ln w="381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523800" y="4460040"/>
            <a:ext cx="82958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3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Early Believers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523800" y="4669560"/>
            <a:ext cx="829584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7f8c8d"/>
                </a:solidFill>
                <a:effectLst/>
                <a:uFillTx/>
                <a:latin typeface="Arial"/>
                <a:ea typeface="Arial"/>
              </a:rPr>
              <a:t>Angels who see DVN observability as infrastructure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2073960" y="806040"/>
            <a:ext cx="499464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781"/>
              </a:lnSpc>
              <a:spcAft>
                <a:spcPts val="1800"/>
              </a:spcAft>
              <a:tabLst>
                <a:tab algn="l" pos="0"/>
              </a:tabLst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Every cross-chain transaction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781"/>
              </a:lnSpc>
              <a:spcAft>
                <a:spcPts val="1800"/>
              </a:spcAft>
              <a:tabLst>
                <a:tab algn="l" pos="0"/>
              </a:tabLst>
            </a:pPr>
            <a:r>
              <a:rPr b="0" lang="en-US" sz="27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needs verification.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2073960" y="1994400"/>
            <a:ext cx="499464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051"/>
              </a:lnSpc>
              <a:spcAft>
                <a:spcPts val="3600"/>
              </a:spcAft>
              <a:tabLst>
                <a:tab algn="l" pos="0"/>
              </a:tabLst>
            </a:pPr>
            <a:r>
              <a:rPr b="0" lang="en-US" sz="27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DVN Intelligence makes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051"/>
              </a:lnSpc>
              <a:spcAft>
                <a:spcPts val="3600"/>
              </a:spcAft>
              <a:tabLst>
                <a:tab algn="l" pos="0"/>
              </a:tabLst>
            </a:pPr>
            <a:r>
              <a:rPr b="0" lang="en-US" sz="2700" strike="noStrike" u="none">
                <a:solidFill>
                  <a:srgbClr val="16a085"/>
                </a:solidFill>
                <a:effectLst/>
                <a:uFillTx/>
                <a:latin typeface="Arial"/>
                <a:ea typeface="Arial"/>
              </a:rPr>
              <a:t>that layer visible.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2073960" y="3480480"/>
            <a:ext cx="49946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251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95a5a6"/>
                </a:solidFill>
                <a:effectLst/>
                <a:uFillTx/>
                <a:latin typeface="Arial"/>
                <a:ea typeface="Arial"/>
              </a:rPr>
              <a:t>Live Demo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2073960" y="3880440"/>
            <a:ext cx="499464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01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dvn-intelligence.vercel.app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LibreOffice/25.2.4.3$MacOSX_X86_64 LibreOffice_project/33e196637044ead23f5c3226cde09b47731f7e27</Application>
  <AppVersion>15.0000</AppVersion>
  <Words>0</Words>
  <Paragraphs>0</Paragraphs>
  <Company>DVN Intelligence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2025-12-16T14:44:14Z</dcterms:created>
  <dc:creator>DVN Intelligence</dc:creator>
  <dc:description/>
  <dc:language>en-US</dc:language>
  <cp:lastModifiedBy/>
  <dcterms:modified xsi:type="dcterms:W3CDTF">2025-12-16T18:02:41Z</dcterms:modified>
  <cp:revision>4</cp:revision>
  <dc:subject>Investor Pitch Deck</dc:subject>
  <dc:title>DVN Intelligence - Observability for Cross-Chain Verification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